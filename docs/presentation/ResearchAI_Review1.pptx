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2A2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822960" cy="822960"/>
          </a:xfrm>
          <a:prstGeom prst="roundRect">
            <a:avLst>
              <a:gd name="adj" fmla="val 25000"/>
            </a:avLst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FFFFFF"/>
                </a:solidFill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6B0FF"/>
                </a:solidFill>
                <a:latin typeface="Segoe UI"/>
              </a:rPr>
              <a:t>GUVI PROJECT  · 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217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ResearchAI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5943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D8D6F5"/>
                </a:solidFill>
                <a:latin typeface="Segoe UI"/>
              </a:rPr>
              <a:t>AI Research &amp; Development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5669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A9AEC8"/>
                </a:solidFill>
                <a:latin typeface="Segoe UI"/>
              </a:rPr>
              <a:t>Manage research projects and datasets, train a real ML model, and get help from an AI assistant.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58521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Keshav Tomar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9AEC8"/>
                </a:solidFill>
                <a:latin typeface="Segoe UI"/>
              </a:rPr>
              <a:t>Live: fantastic-pavlova-37ef51.netlify.app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9AEC8"/>
                </a:solidFill>
                <a:latin typeface="Segoe UI"/>
              </a:rPr>
              <a:t>Code: github.com/keshavtomar1606-gif/AI_Research_Plateform</a:t>
            </a:r>
          </a:p>
        </p:txBody>
      </p:sp>
      <p:pic>
        <p:nvPicPr>
          <p:cNvPr id="9" name="Picture 8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23444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257F5"/>
                </a:solidFill>
                <a:latin typeface="Segoe UI"/>
              </a:rPr>
              <a:t>WHY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43A"/>
                </a:solidFill>
                <a:latin typeface="Segoe UI"/>
              </a:rPr>
              <a:t>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ResearchAI  ·  2/8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0243A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Scattered work</a:t>
            </a:r>
            <a:r>
              <a:rPr sz="1600">
                <a:solidFill>
                  <a:srgbClr val="737B91"/>
                </a:solidFill>
                <a:latin typeface="Segoe UI"/>
              </a:rPr>
              <a:t> projects, datasets and results live in different files and chats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No reproducibility</a:t>
            </a:r>
            <a:r>
              <a:rPr sz="1600">
                <a:solidFill>
                  <a:srgbClr val="737B91"/>
                </a:solidFill>
                <a:latin typeface="Segoe UI"/>
              </a:rPr>
              <a:t> ML results are hard to repeat or compare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Expensive AI tools</a:t>
            </a:r>
            <a:r>
              <a:rPr sz="1600">
                <a:solidFill>
                  <a:srgbClr val="737B91"/>
                </a:solidFill>
                <a:latin typeface="Segoe UI"/>
              </a:rPr>
              <a:t> students need help without paid API subscriptions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Fake progress</a:t>
            </a:r>
            <a:r>
              <a:rPr sz="1600">
                <a:solidFill>
                  <a:srgbClr val="737B91"/>
                </a:solidFill>
                <a:latin typeface="Segoe UI"/>
              </a:rPr>
              <a:t> many demos only show a progress bar, not real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0243A"/>
                </a:solidFill>
                <a:latin typeface="Segoe UI"/>
              </a:rPr>
              <a:t>What ResearchAI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One dashboard</a:t>
            </a:r>
            <a:r>
              <a:rPr sz="1600">
                <a:solidFill>
                  <a:srgbClr val="737B91"/>
                </a:solidFill>
                <a:latin typeface="Segoe UI"/>
              </a:rPr>
              <a:t> for projects, datasets, training and experiments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MySQL database</a:t>
            </a:r>
            <a:r>
              <a:rPr sz="1600">
                <a:solidFill>
                  <a:srgbClr val="737B91"/>
                </a:solidFill>
                <a:latin typeface="Segoe UI"/>
              </a:rPr>
              <a:t> every project, dataset and run is saved (full CRUD)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Real ML training</a:t>
            </a:r>
            <a:r>
              <a:rPr sz="1600">
                <a:solidFill>
                  <a:srgbClr val="737B91"/>
                </a:solidFill>
                <a:latin typeface="Segoe UI"/>
              </a:rPr>
              <a:t> linear regression with train/test split, MAE, RMSE, R²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AI assistant</a:t>
            </a:r>
            <a:r>
              <a:rPr sz="1600">
                <a:solidFill>
                  <a:srgbClr val="737B91"/>
                </a:solidFill>
                <a:latin typeface="Segoe UI"/>
              </a:rPr>
              <a:t> free: local Ollama, or Groq online; history is saved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•  Responsive, safe UI</a:t>
            </a:r>
            <a:r>
              <a:rPr sz="1600">
                <a:solidFill>
                  <a:srgbClr val="737B91"/>
                </a:solidFill>
                <a:latin typeface="Segoe UI"/>
              </a:rPr>
              <a:t> works on phones; inputs validated, HTML escaped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257F5"/>
                </a:solidFill>
                <a:latin typeface="Segoe UI"/>
              </a:rP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43A"/>
                </a:solidFill>
                <a:latin typeface="Segoe UI"/>
              </a:rPr>
              <a:t>System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ResearchAI  ·  3/8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6257F5"/>
                </a:solidFill>
                <a:latin typeface="Segoe UI"/>
              </a:rPr>
              <a:t>Frontend</a:t>
            </a:r>
          </a:p>
          <a:p>
            <a:pPr algn="ctr"/>
            <a:r>
              <a:rPr sz="1100">
                <a:solidFill>
                  <a:srgbClr val="737B91"/>
                </a:solidFill>
                <a:latin typeface="Segoe UI"/>
              </a:rPr>
              <a:t>HTML · CSS · JavaScript</a:t>
            </a:r>
          </a:p>
          <a:p>
            <a:pPr algn="ctr"/>
            <a:r>
              <a:rPr sz="1100">
                <a:solidFill>
                  <a:srgbClr val="737B91"/>
                </a:solidFill>
                <a:latin typeface="Segoe UI"/>
              </a:rPr>
              <a:t>Netlify (online)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25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6257F5"/>
                </a:solidFill>
                <a:latin typeface="Segoe UI"/>
              </a:rPr>
              <a:t>Spring Boot REST API</a:t>
            </a:r>
          </a:p>
          <a:p>
            <a:pPr algn="ctr"/>
            <a:r>
              <a:rPr sz="1100">
                <a:solidFill>
                  <a:srgbClr val="737B91"/>
                </a:solidFill>
                <a:latin typeface="Segoe UI"/>
              </a:rPr>
              <a:t>Java 21 · Maven</a:t>
            </a:r>
          </a:p>
          <a:p>
            <a:pPr algn="ctr"/>
            <a:r>
              <a:rPr sz="1100">
                <a:solidFill>
                  <a:srgbClr val="737B91"/>
                </a:solidFill>
                <a:latin typeface="Segoe UI"/>
              </a:rPr>
              <a:t>Render (online)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2801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0B99A"/>
                </a:solidFill>
                <a:latin typeface="Segoe UI"/>
              </a:rPr>
              <a:t>MySQL database</a:t>
            </a:r>
          </a:p>
          <a:p>
            <a:pPr algn="ctr"/>
            <a:r>
              <a:rPr sz="1100">
                <a:solidFill>
                  <a:srgbClr val="737B91"/>
                </a:solidFill>
                <a:latin typeface="Segoe UI"/>
              </a:rPr>
              <a:t>Local MySQL / Aiven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7889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E69A2E"/>
                </a:solidFill>
                <a:latin typeface="Segoe UI"/>
              </a:rPr>
              <a:t>AI model</a:t>
            </a:r>
          </a:p>
          <a:p>
            <a:pPr algn="ctr"/>
            <a:r>
              <a:rPr sz="1100">
                <a:solidFill>
                  <a:srgbClr val="737B91"/>
                </a:solidFill>
                <a:latin typeface="Segoe UI"/>
              </a:rPr>
              <a:t>Ollama (local) / Groq (cloud)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931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6257F5"/>
                </a:solidFill>
                <a:latin typeface="Segoe UI"/>
              </a:rPr>
              <a:t>ML engine</a:t>
            </a:r>
          </a:p>
          <a:p>
            <a:pPr algn="ctr"/>
            <a:r>
              <a:rPr sz="1000">
                <a:solidFill>
                  <a:srgbClr val="737B91"/>
                </a:solidFill>
                <a:latin typeface="Segoe UI"/>
              </a:rPr>
              <a:t>Linear regression in Java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514600"/>
            <a:ext cx="1280160" cy="0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17520" y="22219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JSON over HTTPS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589520" y="1874519"/>
            <a:ext cx="1280160" cy="365761"/>
          </a:xfrm>
          <a:prstGeom prst="line">
            <a:avLst/>
          </a:prstGeom>
          <a:ln w="25400">
            <a:solidFill>
              <a:srgbClr val="20B9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0" y="16459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JPA / JDBC (SSL)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2788920"/>
            <a:ext cx="1280160" cy="502920"/>
          </a:xfrm>
          <a:prstGeom prst="line">
            <a:avLst/>
          </a:prstGeom>
          <a:ln w="25400">
            <a:solidFill>
              <a:srgbClr val="E69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0" y="30861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200400"/>
            <a:ext cx="0" cy="731520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5349240"/>
            <a:ext cx="790041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25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6257F5"/>
                </a:solidFill>
                <a:latin typeface="Segoe UI"/>
              </a:rPr>
              <a:t>Java 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9849" y="5349240"/>
            <a:ext cx="1463039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25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6257F5"/>
                </a:solidFill>
                <a:latin typeface="Segoe UI"/>
              </a:rPr>
              <a:t>Spring Boot 3.4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12617" y="5349240"/>
            <a:ext cx="1463039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25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6257F5"/>
                </a:solidFill>
                <a:latin typeface="Segoe UI"/>
              </a:rPr>
              <a:t>Spring Data JPA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5385" y="5349240"/>
            <a:ext cx="790041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20B99A"/>
                </a:solidFill>
                <a:latin typeface="Segoe UI"/>
              </a:rPr>
              <a:t>MySQL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85155" y="5349240"/>
            <a:ext cx="11265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25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6257F5"/>
                </a:solidFill>
                <a:latin typeface="Segoe UI"/>
              </a:rPr>
              <a:t>HTML/CSS/JS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21423" y="5349240"/>
            <a:ext cx="129479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E69A2E"/>
                </a:solidFill>
                <a:latin typeface="Segoe UI"/>
              </a:rPr>
              <a:t>Ollama / Groq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5942" y="5349240"/>
            <a:ext cx="1715414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37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737B91"/>
                </a:solidFill>
                <a:latin typeface="Segoe UI"/>
              </a:rPr>
              <a:t>JUnit + Playwright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1084" y="5349240"/>
            <a:ext cx="705916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37B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737B91"/>
                </a:solidFill>
                <a:latin typeface="Segoe UI"/>
              </a:rPr>
              <a:t>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37B91"/>
                </a:solidFill>
                <a:latin typeface="Segoe UI"/>
              </a:rPr>
              <a:t>Secrets (DB password, API key) are read from environment variables, never stored in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257F5"/>
                </a:solidFill>
                <a:latin typeface="Segoe UI"/>
              </a:rPr>
              <a:t>ORGANISED AND MODULAR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43A"/>
                </a:solidFill>
                <a:latin typeface="Segoe UI"/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ResearchAI  ·  4/8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4000"/>
            </a:avLst>
          </a:prstGeom>
          <a:solidFill>
            <a:srgbClr val="16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E4E6F5"/>
                </a:solidFill>
                <a:latin typeface="Consolas"/>
              </a:rPr>
              <a:t>AI_Research_Platform/
├─ frontend/          UI (index.html, app.js, style.css)
├─ backend/           Spring Boot API
│  └─ src/main/java/com/aiplatform/
│     ├─ controller/  REST endpoints
│     ├─ dto/         request/response + validation
│     ├─ service/     AI providers, rate limit
│     ├─ ml/          CSV, regression, metrics
│     ├─ repository/  database access
│     ├─ model/       JPA entities (tables)
│     └─ config/      CORS, security, errors
├─ database/schema.sql
├─ scripts/  · docs/
└─ README.md · DEPLOY.md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0243A"/>
                </a:solidFill>
                <a:latin typeface="Segoe UI"/>
              </a:rPr>
              <a:t>Layered backend (each layer has one job)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57400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6257F5"/>
                </a:solidFill>
                <a:latin typeface="Segoe UI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1945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37B91"/>
                </a:solidFill>
                <a:latin typeface="Segoe UI"/>
              </a:rPr>
              <a:t>receives HTTP requests, returns 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78040" y="2679192"/>
            <a:ext cx="0" cy="201168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35040" y="2880360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6257F5"/>
                </a:solidFill>
                <a:latin typeface="Segoe UI"/>
              </a:rPr>
              <a:t>DTO +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01752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37B91"/>
                </a:solidFill>
                <a:latin typeface="Segoe UI"/>
              </a:rPr>
              <a:t>checks input before it reaches the database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78040" y="3502152"/>
            <a:ext cx="0" cy="201168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3703320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6257F5"/>
                </a:solidFill>
                <a:latin typeface="Segoe UI"/>
              </a:rPr>
              <a:t>Service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8404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37B91"/>
                </a:solidFill>
                <a:latin typeface="Segoe UI"/>
              </a:rPr>
              <a:t>business logic, training, AI calls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78040" y="4325112"/>
            <a:ext cx="0" cy="201168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35040" y="4526280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6257F5"/>
                </a:solidFill>
                <a:latin typeface="Segoe UI"/>
              </a:rPr>
              <a:t>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6634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37B91"/>
                </a:solidFill>
                <a:latin typeface="Segoe UI"/>
              </a:rPr>
              <a:t>Spring Data JPA queries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5148072"/>
            <a:ext cx="0" cy="201168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35040" y="5349240"/>
            <a:ext cx="2286000" cy="621792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6257F5"/>
                </a:solidFill>
                <a:latin typeface="Segoe UI"/>
              </a:rPr>
              <a:t>Entity → MySQL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48640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737B91"/>
                </a:solidFill>
                <a:latin typeface="Segoe UI"/>
              </a:rPr>
              <a:t>Hibernate maps classes to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257F5"/>
                </a:solidFill>
                <a:latin typeface="Segoe UI"/>
              </a:rPr>
              <a:t>MYSQL SCHEMA (3 TABLES)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43A"/>
                </a:solidFill>
                <a:latin typeface="Segoe U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ResearchAI  ·  5/8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383280" cy="4572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research_project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383280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6257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150" b="1">
                <a:solidFill>
                  <a:srgbClr val="20243A"/>
                </a:solidFill>
                <a:latin typeface="Consolas"/>
              </a:rPr>
              <a:t>PK id</a:t>
            </a:r>
            <a:r>
              <a:rPr sz="1000">
                <a:solidFill>
                  <a:srgbClr val="737B91"/>
                </a:solidFill>
                <a:latin typeface="Consolas"/>
              </a:rPr>
              <a:t>  BIGINT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title</a:t>
            </a:r>
            <a:r>
              <a:rPr sz="1000">
                <a:solidFill>
                  <a:srgbClr val="737B91"/>
                </a:solidFill>
                <a:latin typeface="Consolas"/>
              </a:rPr>
              <a:t>  VARCHAR NOT NULL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description</a:t>
            </a:r>
            <a:r>
              <a:rPr sz="1000">
                <a:solidFill>
                  <a:srgbClr val="737B91"/>
                </a:solidFill>
                <a:latin typeface="Consolas"/>
              </a:rPr>
              <a:t>  VARCHAR(2000)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team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status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383280" cy="457200"/>
          </a:xfrm>
          <a:prstGeom prst="rect">
            <a:avLst/>
          </a:prstGeom>
          <a:solidFill>
            <a:srgbClr val="20B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383280" cy="2018995"/>
          </a:xfrm>
          <a:prstGeom prst="rect">
            <a:avLst/>
          </a:prstGeom>
          <a:solidFill>
            <a:srgbClr val="FFFFFF"/>
          </a:solidFill>
          <a:ln w="15875">
            <a:solidFill>
              <a:srgbClr val="2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150" b="1">
                <a:solidFill>
                  <a:srgbClr val="20243A"/>
                </a:solidFill>
                <a:latin typeface="Consolas"/>
              </a:rPr>
              <a:t>PK id</a:t>
            </a:r>
            <a:r>
              <a:rPr sz="1000">
                <a:solidFill>
                  <a:srgbClr val="737B91"/>
                </a:solidFill>
                <a:latin typeface="Consolas"/>
              </a:rPr>
              <a:t>  BIGINT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name</a:t>
            </a:r>
            <a:r>
              <a:rPr sz="1000">
                <a:solidFill>
                  <a:srgbClr val="737B91"/>
                </a:solidFill>
                <a:latin typeface="Consolas"/>
              </a:rPr>
              <a:t>  VARCHAR NOT NULL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owner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file_name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status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csv_content</a:t>
            </a:r>
            <a:r>
              <a:rPr sz="1000">
                <a:solidFill>
                  <a:srgbClr val="737B91"/>
                </a:solidFill>
                <a:latin typeface="Consolas"/>
              </a:rPr>
              <a:t>  LONGTEXT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column_names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row_count</a:t>
            </a:r>
            <a:r>
              <a:rPr sz="1000">
                <a:solidFill>
                  <a:srgbClr val="737B91"/>
                </a:solidFill>
                <a:latin typeface="Consolas"/>
              </a:rPr>
              <a:t>  INT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created_at</a:t>
            </a:r>
            <a:r>
              <a:rPr sz="1000">
                <a:solidFill>
                  <a:srgbClr val="737B91"/>
                </a:solidFill>
                <a:latin typeface="Consolas"/>
              </a:rPr>
              <a:t>  DATETIME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54480"/>
            <a:ext cx="3474720" cy="457200"/>
          </a:xfrm>
          <a:prstGeom prst="rect">
            <a:avLst/>
          </a:prstGeom>
          <a:solidFill>
            <a:srgbClr val="E6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training_job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011680"/>
            <a:ext cx="3474720" cy="2231136"/>
          </a:xfrm>
          <a:prstGeom prst="rect">
            <a:avLst/>
          </a:prstGeom>
          <a:solidFill>
            <a:srgbClr val="FFFFFF"/>
          </a:solidFill>
          <a:ln w="15875">
            <a:solidFill>
              <a:srgbClr val="E6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150" b="1">
                <a:solidFill>
                  <a:srgbClr val="20243A"/>
                </a:solidFill>
                <a:latin typeface="Consolas"/>
              </a:rPr>
              <a:t>PK id</a:t>
            </a:r>
            <a:r>
              <a:rPr sz="1000">
                <a:solidFill>
                  <a:srgbClr val="737B91"/>
                </a:solidFill>
                <a:latin typeface="Consolas"/>
              </a:rPr>
              <a:t>  BIGINT</a:t>
            </a:r>
          </a:p>
          <a:p>
            <a:pPr algn="l"/>
            <a:r>
              <a:rPr sz="1150" b="1">
                <a:solidFill>
                  <a:srgbClr val="20243A"/>
                </a:solidFill>
                <a:latin typeface="Consolas"/>
              </a:rPr>
              <a:t>FK dataset_id</a:t>
            </a:r>
            <a:r>
              <a:rPr sz="1000">
                <a:solidFill>
                  <a:srgbClr val="737B91"/>
                </a:solidFill>
                <a:latin typeface="Consolas"/>
              </a:rPr>
              <a:t>  BIGINT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job_type</a:t>
            </a:r>
            <a:r>
              <a:rPr sz="1000">
                <a:solidFill>
                  <a:srgbClr val="737B91"/>
                </a:solidFill>
                <a:latin typeface="Consolas"/>
              </a:rPr>
              <a:t>  ML_TRAINING/RECORD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status</a:t>
            </a:r>
            <a:r>
              <a:rPr sz="1000">
                <a:solidFill>
                  <a:srgbClr val="737B91"/>
                </a:solidFill>
                <a:latin typeface="Consolas"/>
              </a:rPr>
              <a:t>  Queued…Completed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progress</a:t>
            </a:r>
            <a:r>
              <a:rPr sz="1000">
                <a:solidFill>
                  <a:srgbClr val="737B91"/>
                </a:solidFill>
                <a:latin typeface="Consolas"/>
              </a:rPr>
              <a:t>  INT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target_column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feature_columns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mae / rmse / r2</a:t>
            </a:r>
            <a:r>
              <a:rPr sz="1000">
                <a:solidFill>
                  <a:srgbClr val="737B91"/>
                </a:solidFill>
                <a:latin typeface="Consolas"/>
              </a:rPr>
              <a:t>  DOUBLE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coefficients_json</a:t>
            </a:r>
            <a:r>
              <a:rPr sz="1000">
                <a:solidFill>
                  <a:srgbClr val="737B91"/>
                </a:solidFill>
                <a:latin typeface="Consolas"/>
              </a:rPr>
              <a:t>  VARCHAR</a:t>
            </a:r>
          </a:p>
          <a:p>
            <a:pPr algn="l"/>
            <a:r>
              <a:rPr sz="1150" b="0">
                <a:solidFill>
                  <a:srgbClr val="20243A"/>
                </a:solidFill>
                <a:latin typeface="Consolas"/>
              </a:rPr>
              <a:t>   started_at / finished_at</a:t>
            </a:r>
            <a:r>
              <a:rPr sz="1000">
                <a:solidFill>
                  <a:srgbClr val="737B91"/>
                </a:solidFill>
                <a:latin typeface="Consolas"/>
              </a:rPr>
              <a:t>  DATETIME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772400" y="2148840"/>
            <a:ext cx="457200" cy="274320"/>
          </a:xfrm>
          <a:prstGeom prst="line">
            <a:avLst/>
          </a:prstGeom>
          <a:ln w="25400">
            <a:solidFill>
              <a:srgbClr val="E69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86600" y="1143000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E69A2E"/>
                </a:solidFill>
                <a:latin typeface="Segoe UI"/>
              </a:rPr>
              <a:t>1 dataset → many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0243A"/>
                </a:solidFill>
                <a:latin typeface="Segoe UI"/>
              </a:rPr>
              <a:t>•  Entities → tables</a:t>
            </a:r>
            <a:r>
              <a:rPr sz="1300">
                <a:solidFill>
                  <a:srgbClr val="737B91"/>
                </a:solidFill>
                <a:latin typeface="Segoe UI"/>
              </a:rPr>
              <a:t> via JPA/Hibernate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0243A"/>
                </a:solidFill>
                <a:latin typeface="Segoe UI"/>
              </a:rPr>
              <a:t>•  Validation</a:t>
            </a:r>
            <a:r>
              <a:rPr sz="1300">
                <a:solidFill>
                  <a:srgbClr val="737B91"/>
                </a:solidFill>
                <a:latin typeface="Segoe UI"/>
              </a:rPr>
              <a:t> NOT NULL, length limits, allowed status values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0243A"/>
                </a:solidFill>
                <a:latin typeface="Segoe UI"/>
              </a:rPr>
              <a:t>•  Results stored</a:t>
            </a:r>
            <a:r>
              <a:rPr sz="1300">
                <a:solidFill>
                  <a:srgbClr val="737B91"/>
                </a:solidFill>
                <a:latin typeface="Segoe UI"/>
              </a:rPr>
              <a:t> metrics + learned coefficients per run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0243A"/>
                </a:solidFill>
                <a:latin typeface="Segoe UI"/>
              </a:rPr>
              <a:t>•  Link</a:t>
            </a:r>
            <a:r>
              <a:rPr sz="1300">
                <a:solidFill>
                  <a:srgbClr val="737B91"/>
                </a:solidFill>
                <a:latin typeface="Segoe UI"/>
              </a:rPr>
              <a:t> training_job.dataset_id → dataset.id (logical key: runs keep their results if a dataset is deleted)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0243A"/>
                </a:solidFill>
                <a:latin typeface="Segoe UI"/>
              </a:rPr>
              <a:t>•  Script</a:t>
            </a:r>
            <a:r>
              <a:rPr sz="1300">
                <a:solidFill>
                  <a:srgbClr val="737B91"/>
                </a:solidFill>
                <a:latin typeface="Segoe UI"/>
              </a:rPr>
              <a:t> database/schema.sql (verified against the code)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257F5"/>
                </a:solidFill>
                <a:latin typeface="Segoe UI"/>
              </a:rPr>
              <a:t>FROM BUTTON CLICK TO MYSQL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43A"/>
                </a:solidFill>
                <a:latin typeface="Segoe UI"/>
              </a:rPr>
              <a:t>Database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ResearchAI  ·  6/8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6257F5"/>
                </a:solidFill>
                <a:latin typeface="Segoe UI"/>
              </a:rPr>
              <a:t>Browser</a:t>
            </a:r>
          </a:p>
          <a:p>
            <a:pPr algn="ctr"/>
            <a:r>
              <a:rPr sz="1000">
                <a:solidFill>
                  <a:srgbClr val="737B91"/>
                </a:solidFill>
                <a:latin typeface="Segoe UI"/>
              </a:rPr>
              <a:t>fetch() POST /api/projects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304288"/>
            <a:ext cx="274320" cy="0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73736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6257F5"/>
                </a:solidFill>
                <a:latin typeface="Segoe UI"/>
              </a:rPr>
              <a:t>Controller</a:t>
            </a:r>
          </a:p>
          <a:p>
            <a:pPr algn="ctr"/>
            <a:r>
              <a:rPr sz="1000">
                <a:solidFill>
                  <a:srgbClr val="737B91"/>
                </a:solidFill>
                <a:latin typeface="Segoe UI"/>
              </a:rPr>
              <a:t>@RestController + @Valid DTO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304288"/>
            <a:ext cx="274319" cy="0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97679" y="173736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6257F5"/>
                </a:solidFill>
                <a:latin typeface="Segoe UI"/>
              </a:rPr>
              <a:t>Repository</a:t>
            </a:r>
          </a:p>
          <a:p>
            <a:pPr algn="ctr"/>
            <a:r>
              <a:rPr sz="1000">
                <a:solidFill>
                  <a:srgbClr val="737B91"/>
                </a:solidFill>
                <a:latin typeface="Segoe UI"/>
              </a:rPr>
              <a:t>Spring Data JPA save()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79" y="2304288"/>
            <a:ext cx="274320" cy="0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199" y="173736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6257F5"/>
                </a:solidFill>
                <a:latin typeface="Segoe UI"/>
              </a:rPr>
              <a:t>Hibernate + HikariCP</a:t>
            </a:r>
          </a:p>
          <a:p>
            <a:pPr algn="ctr"/>
            <a:r>
              <a:rPr sz="1000">
                <a:solidFill>
                  <a:srgbClr val="737B91"/>
                </a:solidFill>
                <a:latin typeface="Segoe UI"/>
              </a:rPr>
              <a:t>SQL + connection pool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0" y="2304288"/>
            <a:ext cx="274319" cy="0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6719" y="173736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6257F5"/>
                </a:solidFill>
                <a:latin typeface="Segoe UI"/>
              </a:rPr>
              <a:t>MySQL Connector/J</a:t>
            </a:r>
          </a:p>
          <a:p>
            <a:pPr algn="ctr"/>
            <a:r>
              <a:rPr sz="1000">
                <a:solidFill>
                  <a:srgbClr val="737B91"/>
                </a:solidFill>
                <a:latin typeface="Segoe UI"/>
              </a:rPr>
              <a:t>JDBC, SSL to cloud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46919" y="2304288"/>
            <a:ext cx="274320" cy="0"/>
          </a:xfrm>
          <a:prstGeom prst="line">
            <a:avLst/>
          </a:prstGeom>
          <a:ln w="25400">
            <a:solidFill>
              <a:srgbClr val="6257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21239" y="173736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E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>
                <a:solidFill>
                  <a:srgbClr val="20B99A"/>
                </a:solidFill>
                <a:latin typeface="Segoe UI"/>
              </a:rPr>
              <a:t>MySQL</a:t>
            </a:r>
          </a:p>
          <a:p>
            <a:pPr algn="ctr"/>
            <a:r>
              <a:rPr sz="1000">
                <a:solidFill>
                  <a:srgbClr val="737B91"/>
                </a:solidFill>
                <a:latin typeface="Segoe UI"/>
              </a:rPr>
              <a:t>row stored in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55778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Configuration (no passwords in 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52120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257F5"/>
                </a:solidFill>
                <a:latin typeface="Consolas"/>
              </a:rPr>
              <a:t>spring.datasource.url=${DB_URL}
spring.datasource.username=${DB_USERNAME}
spring.datasource.password=${DB_PASSWORD}
spring.jpa.hibernate.ddl-auto=update
hikari.maximum-pool-size=5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5212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737B91"/>
                </a:solidFill>
                <a:latin typeface="Segoe UI"/>
              </a:rPr>
              <a:t>Locally: backend/config/local.properties (git-ignored).
Online: Render environment variables.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291840"/>
            <a:ext cx="52120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47472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0243A"/>
                </a:solidFill>
                <a:latin typeface="Segoe UI"/>
              </a:rPr>
              <a:t>Proof: health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931920"/>
            <a:ext cx="4846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0B99A"/>
                </a:solidFill>
                <a:latin typeface="Consolas"/>
              </a:rPr>
              <a:t>GET /api/health
{"status":"UP",
 "database":"UP",
 "ai":"UP"}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66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Tested</a:t>
            </a:r>
            <a:r>
              <a:rPr sz="1200">
                <a:solidFill>
                  <a:srgbClr val="737B91"/>
                </a:solidFill>
                <a:latin typeface="Segoe UI"/>
              </a:rPr>
              <a:t> create → read → update → delete against real MySQL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Errors</a:t>
            </a:r>
            <a:r>
              <a:rPr sz="1200">
                <a:solidFill>
                  <a:srgbClr val="737B91"/>
                </a:solidFill>
                <a:latin typeface="Segoe UI"/>
              </a:rPr>
              <a:t> DB down shows a clear message, never a fake “saved”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257F5"/>
                </a:solidFill>
                <a:latin typeface="Segoe UI"/>
              </a:rPr>
              <a:t>AESTHETICS AND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43A"/>
                </a:solidFill>
                <a:latin typeface="Segoe UI"/>
              </a:rPr>
              <a:t>UI design &amp; responsiveness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ResearchAI  ·  7/8</a:t>
            </a:r>
          </a:p>
        </p:txBody>
      </p:sp>
      <p:pic>
        <p:nvPicPr>
          <p:cNvPr id="6" name="Picture 5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486400" cy="3429000"/>
          </a:xfrm>
          <a:prstGeom prst="rect">
            <a:avLst/>
          </a:prstGeom>
          <a:ln w="12700">
            <a:solidFill>
              <a:srgbClr val="DDE0E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Desktop: Projects page (data loaded from MySQL)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Consistent theme</a:t>
            </a:r>
            <a:r>
              <a:rPr sz="1200">
                <a:solidFill>
                  <a:srgbClr val="737B91"/>
                </a:solidFill>
                <a:latin typeface="Segoe UI"/>
              </a:rPr>
              <a:t> purple palette, cards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Clear status</a:t>
            </a:r>
            <a:r>
              <a:rPr sz="1200">
                <a:solidFill>
                  <a:srgbClr val="737B91"/>
                </a:solidFill>
                <a:latin typeface="Segoe UI"/>
              </a:rPr>
              <a:t> coloured tags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Feedback</a:t>
            </a:r>
            <a:r>
              <a:rPr sz="1200">
                <a:solidFill>
                  <a:srgbClr val="737B91"/>
                </a:solidFill>
                <a:latin typeface="Segoe UI"/>
              </a:rPr>
              <a:t> loading, success/error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52120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Safe forms</a:t>
            </a:r>
            <a:r>
              <a:rPr sz="1200">
                <a:solidFill>
                  <a:srgbClr val="737B91"/>
                </a:solidFill>
                <a:latin typeface="Segoe UI"/>
              </a:rPr>
              <a:t> Cancel never saves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Responsive</a:t>
            </a:r>
            <a:r>
              <a:rPr sz="1200">
                <a:solidFill>
                  <a:srgbClr val="737B91"/>
                </a:solidFill>
                <a:latin typeface="Segoe UI"/>
              </a:rPr>
              <a:t> icon sidebar on phones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0243A"/>
                </a:solidFill>
                <a:latin typeface="Segoe UI"/>
              </a:rPr>
              <a:t>•  Accessible</a:t>
            </a:r>
            <a:r>
              <a:rPr sz="1200">
                <a:solidFill>
                  <a:srgbClr val="737B91"/>
                </a:solidFill>
                <a:latin typeface="Segoe UI"/>
              </a:rPr>
              <a:t> labels, keyboard support</a:t>
            </a:r>
          </a:p>
        </p:txBody>
      </p:sp>
      <p:pic>
        <p:nvPicPr>
          <p:cNvPr id="10" name="Picture 9" descr="mobil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17320"/>
            <a:ext cx="2112654" cy="4572000"/>
          </a:xfrm>
          <a:prstGeom prst="rect">
            <a:avLst/>
          </a:prstGeom>
          <a:ln w="12700">
            <a:solidFill>
              <a:srgbClr val="DDE0E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629400" y="6035040"/>
            <a:ext cx="211226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Phone: Overview</a:t>
            </a:r>
          </a:p>
        </p:txBody>
      </p:sp>
      <p:pic>
        <p:nvPicPr>
          <p:cNvPr id="12" name="Picture 11" descr="mobile-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417320"/>
            <a:ext cx="2112654" cy="4572000"/>
          </a:xfrm>
          <a:prstGeom prst="rect">
            <a:avLst/>
          </a:prstGeom>
          <a:ln w="12700">
            <a:solidFill>
              <a:srgbClr val="DDE0EC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9144000" y="6035040"/>
            <a:ext cx="211226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Phone: Training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25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257F5"/>
                </a:solidFill>
                <a:latin typeface="Segoe UI"/>
              </a:rPr>
              <a:t>WHERE THE PROJECT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43A"/>
                </a:solidFill>
                <a:latin typeface="Segoe UI"/>
              </a:rPr>
              <a:t>Progress, testing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737B91"/>
                </a:solidFill>
                <a:latin typeface="Segoe UI"/>
              </a:rPr>
              <a:t>ResearchAI  ·  8/8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6257F5"/>
                </a:solidFill>
                <a:latin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37B91"/>
                </a:solidFill>
                <a:latin typeface="Segoe UI"/>
              </a:rPr>
              <a:t>backend tests
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5448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6257F5"/>
                </a:solidFill>
                <a:latin typeface="Segoe U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488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37B91"/>
                </a:solidFill>
                <a:latin typeface="Segoe UI"/>
              </a:rPr>
              <a:t>browser test
checks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6257F5"/>
                </a:solidFill>
                <a:latin typeface="Segoe UI"/>
              </a:rPr>
              <a:t>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37B91"/>
                </a:solidFill>
                <a:latin typeface="Segoe UI"/>
              </a:rPr>
              <a:t>R² on sample
test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6304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55448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6257F5"/>
                </a:solidFill>
                <a:latin typeface="Segoe UI"/>
              </a:rPr>
              <a:t>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148840"/>
            <a:ext cx="22860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37B91"/>
                </a:solidFill>
                <a:latin typeface="Segoe UI"/>
              </a:rPr>
              <a:t>Netlify + Render
+ Aiven + Groq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6324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0B99A"/>
                </a:solidFill>
                <a:latin typeface="Segoe UI"/>
              </a:rPr>
              <a:t>Completed for Review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Project structure</a:t>
            </a:r>
            <a:r>
              <a:rPr sz="1400">
                <a:solidFill>
                  <a:srgbClr val="737B91"/>
                </a:solidFill>
                <a:latin typeface="Segoe UI"/>
              </a:rPr>
              <a:t> modular frontend + layered backend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Database design</a:t>
            </a:r>
            <a:r>
              <a:rPr sz="1400">
                <a:solidFill>
                  <a:srgbClr val="737B91"/>
                </a:solidFill>
                <a:latin typeface="Segoe UI"/>
              </a:rPr>
              <a:t> 3 tables, schema script, validation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Database connectivity</a:t>
            </a:r>
            <a:r>
              <a:rPr sz="1400">
                <a:solidFill>
                  <a:srgbClr val="737B91"/>
                </a:solidFill>
                <a:latin typeface="Segoe UI"/>
              </a:rPr>
              <a:t> JPA + MySQL, local and cloud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UI/UX</a:t>
            </a:r>
            <a:r>
              <a:rPr sz="1400">
                <a:solidFill>
                  <a:srgbClr val="737B91"/>
                </a:solidFill>
                <a:latin typeface="Segoe UI"/>
              </a:rPr>
              <a:t> consistent design, responsive layout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Extra</a:t>
            </a:r>
            <a:r>
              <a:rPr sz="1400">
                <a:solidFill>
                  <a:srgbClr val="737B91"/>
                </a:solidFill>
                <a:latin typeface="Segoe UI"/>
              </a:rPr>
              <a:t> real ML training and AI assistant working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063240"/>
            <a:ext cx="53949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69A2E"/>
                </a:solidFill>
                <a:latin typeface="Segoe UI"/>
              </a:rPr>
              <a:t>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033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Real login</a:t>
            </a:r>
            <a:r>
              <a:rPr sz="1400">
                <a:solidFill>
                  <a:srgbClr val="737B91"/>
                </a:solidFill>
                <a:latin typeface="Segoe UI"/>
              </a:rPr>
              <a:t> Spring Security with hashed passwords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Admin pages</a:t>
            </a:r>
            <a:r>
              <a:rPr sz="1400">
                <a:solidFill>
                  <a:srgbClr val="737B91"/>
                </a:solidFill>
                <a:latin typeface="Segoe UI"/>
              </a:rPr>
              <a:t> users &amp; resources stored in MySQL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More models</a:t>
            </a:r>
            <a:r>
              <a:rPr sz="1400">
                <a:solidFill>
                  <a:srgbClr val="737B91"/>
                </a:solidFill>
                <a:latin typeface="Segoe UI"/>
              </a:rPr>
              <a:t> classification, model comparison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0243A"/>
                </a:solidFill>
                <a:latin typeface="Segoe UI"/>
              </a:rPr>
              <a:t>•  Charts</a:t>
            </a:r>
            <a:r>
              <a:rPr sz="1400">
                <a:solidFill>
                  <a:srgbClr val="737B91"/>
                </a:solidFill>
                <a:latin typeface="Segoe UI"/>
              </a:rPr>
              <a:t> visualise predictions vs actual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737B91"/>
                </a:solidFill>
                <a:latin typeface="Segoe UI"/>
              </a:rPr>
              <a:t>Live demo: fantastic-pavlova-37ef51.netlify.app     ·     Code: github.com/keshavtomar1606-gif/AI_Research_Plateform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